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19"/>
  </p:notesMasterIdLst>
  <p:sldIdLst>
    <p:sldId id="256" r:id="rId2"/>
    <p:sldId id="277" r:id="rId3"/>
    <p:sldId id="258" r:id="rId4"/>
    <p:sldId id="268" r:id="rId5"/>
    <p:sldId id="285" r:id="rId6"/>
    <p:sldId id="259" r:id="rId7"/>
    <p:sldId id="261" r:id="rId8"/>
    <p:sldId id="269" r:id="rId9"/>
    <p:sldId id="284" r:id="rId10"/>
    <p:sldId id="289" r:id="rId11"/>
    <p:sldId id="286" r:id="rId12"/>
    <p:sldId id="287" r:id="rId13"/>
    <p:sldId id="288" r:id="rId14"/>
    <p:sldId id="266" r:id="rId15"/>
    <p:sldId id="290" r:id="rId16"/>
    <p:sldId id="267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449" autoAdjust="0"/>
  </p:normalViewPr>
  <p:slideViewPr>
    <p:cSldViewPr snapToGrid="0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8D0E5-0B12-4DDF-A8FA-590EFB9DC12A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7A380-73E4-4315-A5A5-D40F8280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53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7A380-73E4-4315-A5A5-D40F8280B0A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24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dataset includes </a:t>
            </a:r>
            <a:r>
              <a:rPr lang="en-IN" b="1" dirty="0"/>
              <a:t>9 types of modern attacks</a:t>
            </a:r>
            <a:r>
              <a:rPr lang="en-IN" dirty="0"/>
              <a:t> along with normal traffic.</a:t>
            </a:r>
          </a:p>
          <a:p>
            <a:r>
              <a:rPr lang="en-IN" b="1" dirty="0"/>
              <a:t>Attack Type Description</a:t>
            </a:r>
          </a:p>
          <a:p>
            <a:r>
              <a:rPr lang="en-IN" dirty="0"/>
              <a:t>1.   </a:t>
            </a:r>
            <a:r>
              <a:rPr lang="en-IN" b="1" dirty="0" err="1"/>
              <a:t>Fuzzers</a:t>
            </a:r>
            <a:r>
              <a:rPr lang="en-IN" b="1" dirty="0"/>
              <a:t> </a:t>
            </a:r>
            <a:r>
              <a:rPr lang="en-IN" dirty="0"/>
              <a:t>Sending random data to applications to crash or find vulnerabilities.</a:t>
            </a:r>
          </a:p>
          <a:p>
            <a:r>
              <a:rPr lang="en-IN" dirty="0"/>
              <a:t>2.   </a:t>
            </a:r>
            <a:r>
              <a:rPr lang="en-IN" b="1" dirty="0"/>
              <a:t>Analysis </a:t>
            </a:r>
            <a:r>
              <a:rPr lang="en-IN" dirty="0"/>
              <a:t>Port scanning, vulnerability scanning, and fingerprinting</a:t>
            </a:r>
          </a:p>
          <a:p>
            <a:pPr marL="228600" indent="-228600">
              <a:buAutoNum type="arabicPeriod" startAt="3"/>
            </a:pPr>
            <a:r>
              <a:rPr lang="en-IN" b="1" dirty="0"/>
              <a:t>Backdoors </a:t>
            </a:r>
            <a:r>
              <a:rPr lang="en-IN" dirty="0"/>
              <a:t>Hidden access methods inserted into systems for remote control.</a:t>
            </a:r>
          </a:p>
          <a:p>
            <a:pPr marL="228600" indent="-228600">
              <a:buAutoNum type="arabicPeriod" startAt="3"/>
            </a:pPr>
            <a:r>
              <a:rPr lang="en-IN" b="1" dirty="0"/>
              <a:t>DoS (Denial of Service) </a:t>
            </a:r>
            <a:r>
              <a:rPr lang="en-IN" dirty="0"/>
              <a:t>Flooding or overloading a network/service to make it unavailable.</a:t>
            </a:r>
          </a:p>
          <a:p>
            <a:pPr marL="228600" indent="-228600">
              <a:buAutoNum type="arabicPeriod" startAt="3"/>
            </a:pPr>
            <a:r>
              <a:rPr lang="en-IN" b="1" dirty="0"/>
              <a:t>Exploits </a:t>
            </a:r>
            <a:r>
              <a:rPr lang="en-IN" dirty="0"/>
              <a:t>Exploiting software vulnerabilities (e.g., buffer overflow).6. </a:t>
            </a:r>
          </a:p>
          <a:p>
            <a:pPr marL="228600" indent="-228600">
              <a:buAutoNum type="arabicPeriod" startAt="3"/>
            </a:pPr>
            <a:r>
              <a:rPr lang="en-IN" b="1" dirty="0"/>
              <a:t>Generic </a:t>
            </a:r>
            <a:r>
              <a:rPr lang="en-IN" dirty="0"/>
              <a:t>Cryptographic brute-force attacks against ciphers (e.g., hash collisions).</a:t>
            </a:r>
          </a:p>
          <a:p>
            <a:pPr marL="228600" indent="-228600">
              <a:buAutoNum type="arabicPeriod" startAt="3"/>
            </a:pPr>
            <a:r>
              <a:rPr lang="en-IN" b="1" dirty="0"/>
              <a:t>Reconnaissance </a:t>
            </a:r>
            <a:r>
              <a:rPr lang="en-IN" dirty="0"/>
              <a:t>Gathering information about a target before attack (ping sweep, port scan).</a:t>
            </a:r>
          </a:p>
          <a:p>
            <a:pPr marL="228600" indent="-228600">
              <a:buAutoNum type="arabicPeriod" startAt="3"/>
            </a:pPr>
            <a:r>
              <a:rPr lang="en-IN" b="1" dirty="0"/>
              <a:t>Shellcode </a:t>
            </a:r>
            <a:r>
              <a:rPr lang="en-IN" dirty="0"/>
              <a:t>Code that exploits software vulnerabilities to gain shell access.</a:t>
            </a:r>
          </a:p>
          <a:p>
            <a:pPr marL="228600" indent="-228600">
              <a:buAutoNum type="arabicPeriod" startAt="3"/>
            </a:pPr>
            <a:r>
              <a:rPr lang="en-IN" dirty="0"/>
              <a:t> </a:t>
            </a:r>
            <a:r>
              <a:rPr lang="en-IN" b="1" dirty="0"/>
              <a:t>Worms </a:t>
            </a:r>
            <a:r>
              <a:rPr lang="en-IN" dirty="0"/>
              <a:t>Self-replicating malware spreading through the network.</a:t>
            </a:r>
          </a:p>
          <a:p>
            <a:pPr marL="228600" indent="-228600">
              <a:buAutoNum type="arabicPeriod" startAt="3"/>
            </a:pPr>
            <a:r>
              <a:rPr lang="en-IN" b="1" dirty="0"/>
              <a:t> Normal </a:t>
            </a:r>
            <a:r>
              <a:rPr lang="en-IN" dirty="0"/>
              <a:t>Legitimate benign network traffic.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7A380-73E4-4315-A5A5-D40F8280B0A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514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541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00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23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7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29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6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633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36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20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654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06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A1C5D6-3555-4B7E-9F19-C9A3C3F2FF4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55CE47-51E3-424D-BD42-E2A880F5258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92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PROC.1975.9792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link.springer.com/book/10.1007/978-94-017-0357-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specom.2006.03.004" TargetMode="External"/><Relationship Id="rId5" Type="http://schemas.openxmlformats.org/officeDocument/2006/relationships/hyperlink" Target="https://doi.org/10.1016/j.csl.2018.08.004" TargetMode="External"/><Relationship Id="rId4" Type="http://schemas.openxmlformats.org/officeDocument/2006/relationships/hyperlink" Target="https://ieeexplore.ieee.org/document/8081370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343FA487-4F73-76E7-41FD-C3F016250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406" y="3143920"/>
            <a:ext cx="9788753" cy="1096899"/>
          </a:xfrm>
        </p:spPr>
        <p:txBody>
          <a:bodyPr>
            <a:no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</a:rPr>
              <a:t>  </a:t>
            </a:r>
            <a:r>
              <a:rPr lang="en-US" dirty="0">
                <a:solidFill>
                  <a:srgbClr val="FF0000"/>
                </a:solidFill>
              </a:rPr>
              <a:t>AI-Based spoof detection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BCABA0-F57E-8E90-5C8D-3583534017BB}"/>
              </a:ext>
            </a:extLst>
          </p:cNvPr>
          <p:cNvSpPr txBox="1"/>
          <p:nvPr/>
        </p:nvSpPr>
        <p:spPr>
          <a:xfrm>
            <a:off x="990364" y="462430"/>
            <a:ext cx="104410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			</a:t>
            </a:r>
          </a:p>
          <a:p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  <a:p>
            <a:pPr lvl="3"/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KONERU LAKSHMAIAH EDUCATION FOUNDATION</a:t>
            </a:r>
          </a:p>
          <a:p>
            <a:pPr lvl="3"/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				DEPARTMENT OF ECE</a:t>
            </a:r>
          </a:p>
          <a:p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764E7-0A5C-E4C2-6C29-B672E5160078}"/>
              </a:ext>
            </a:extLst>
          </p:cNvPr>
          <p:cNvSpPr txBox="1"/>
          <p:nvPr/>
        </p:nvSpPr>
        <p:spPr>
          <a:xfrm>
            <a:off x="2028127" y="2557227"/>
            <a:ext cx="776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en-IN" dirty="0"/>
              <a:t>ENGINEERING CAPSTONE PROJECT – Phase 2(22IE4054A)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AD293-8A64-44C4-269D-D94BEC91E0E6}"/>
              </a:ext>
            </a:extLst>
          </p:cNvPr>
          <p:cNvSpPr txBox="1"/>
          <p:nvPr/>
        </p:nvSpPr>
        <p:spPr>
          <a:xfrm>
            <a:off x="1016406" y="4698190"/>
            <a:ext cx="7703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4" algn="ctr"/>
            <a:r>
              <a:rPr lang="en-IN" dirty="0"/>
              <a:t>Group No: 2204004H</a:t>
            </a:r>
          </a:p>
          <a:p>
            <a:pPr lvl="4" algn="ctr"/>
            <a:r>
              <a:rPr lang="en-IN" dirty="0"/>
              <a:t>Guided By: Dr. A. K. VARMA</a:t>
            </a:r>
          </a:p>
        </p:txBody>
      </p:sp>
      <p:pic>
        <p:nvPicPr>
          <p:cNvPr id="13" name="Picture 2" descr="Registration - Best Private University in Telangana &amp; Andhra ...">
            <a:extLst>
              <a:ext uri="{FF2B5EF4-FFF2-40B4-BE49-F238E27FC236}">
                <a16:creationId xmlns:a16="http://schemas.microsoft.com/office/drawing/2014/main" id="{E19C4509-2716-B2F7-6869-D276ABDF7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40738" cy="8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12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2E53-F083-EC53-4D19-9D823643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5F5F5-EAC4-BA5B-2BDA-50A39AB75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7320" y="2089574"/>
            <a:ext cx="10058400" cy="4023360"/>
          </a:xfrm>
        </p:spPr>
        <p:txBody>
          <a:bodyPr/>
          <a:lstStyle/>
          <a:p>
            <a:pPr algn="just"/>
            <a:r>
              <a:rPr lang="en-IN" dirty="0"/>
              <a:t> 2210040007 – S. B. HEMA ANJALI</a:t>
            </a:r>
          </a:p>
          <a:p>
            <a:pPr algn="just"/>
            <a:r>
              <a:rPr lang="en-IN" dirty="0"/>
              <a:t> 2210040032 – CH. SAMYANA REDDY</a:t>
            </a:r>
          </a:p>
          <a:p>
            <a:pPr algn="just"/>
            <a:r>
              <a:rPr lang="en-IN" dirty="0"/>
              <a:t> 2210040033 – P. NIKHITA REDDY</a:t>
            </a:r>
          </a:p>
          <a:p>
            <a:pPr algn="just"/>
            <a:r>
              <a:rPr lang="en-IN" dirty="0"/>
              <a:t> 2210040044 – P. SREE VARSHA REDDY</a:t>
            </a:r>
          </a:p>
          <a:p>
            <a:pPr marL="0" indent="0" algn="just">
              <a:buNone/>
            </a:pPr>
            <a:endParaRPr lang="en-IN" dirty="0"/>
          </a:p>
          <a:p>
            <a:pPr algn="just"/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4" name="Picture 2" descr="Registration - Best Private University in Telangana &amp; Andhra ...">
            <a:extLst>
              <a:ext uri="{FF2B5EF4-FFF2-40B4-BE49-F238E27FC236}">
                <a16:creationId xmlns:a16="http://schemas.microsoft.com/office/drawing/2014/main" id="{05A3910F-F130-820B-A0B9-3DC0FF220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40738" cy="8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481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3ED6-916A-47E7-BD51-35A6E03D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105" y="501309"/>
            <a:ext cx="8129189" cy="118872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CA93AC7-9AED-A499-059C-9FC8B590E8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0551" y="2247651"/>
            <a:ext cx="8190897" cy="2362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Advanced spoofing techniques like deepfake, replay, and voice conversion make it difficult to distinguish real and fake audio, requiring robust detection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Existing systems fail to detect subtle artifacts and perform poorly in real-world conditions, creating a need for accurate and generalizable solutions.</a:t>
            </a:r>
          </a:p>
          <a:p>
            <a:br>
              <a:rPr lang="en-US" dirty="0"/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Registration - Best Private University in Telangana &amp; Andhra ...">
            <a:extLst>
              <a:ext uri="{FF2B5EF4-FFF2-40B4-BE49-F238E27FC236}">
                <a16:creationId xmlns:a16="http://schemas.microsoft.com/office/drawing/2014/main" id="{DF0EB65C-1B1B-9F43-9D2B-249E0CA80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7" y="0"/>
            <a:ext cx="1740738" cy="8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762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5069-DE80-E18F-8064-0B2DBE52B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BE323-2A47-DD5E-F890-0EA3BD57F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primary objective is to develop an AI-based spoof detection system for identifying manipulated audio.</a:t>
            </a:r>
          </a:p>
          <a:p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To design effective features that capture differences between genuine and spoofed speech.</a:t>
            </a:r>
          </a:p>
          <a:p>
            <a:r>
              <a:rPr lang="en-US" dirty="0"/>
              <a:t>(ii) To build a robust model that ensures high accuracy in real-world scenarios.</a:t>
            </a:r>
          </a:p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4" name="Picture 2" descr="Registration - Best Private University in Telangana &amp; Andhra ...">
            <a:extLst>
              <a:ext uri="{FF2B5EF4-FFF2-40B4-BE49-F238E27FC236}">
                <a16:creationId xmlns:a16="http://schemas.microsoft.com/office/drawing/2014/main" id="{E915E54E-1C3F-EC9A-4182-77F1DF5AC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40738" cy="8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475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8E38-3585-43A0-E55A-ECE0B437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Society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09E897-CF9E-B53D-8359-DF3091E360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52747"/>
            <a:ext cx="102258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in voice-based authentication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(banking, payments, smart devices)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and identity theft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caused by deepfake audio attacks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and digital trust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communication platforms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forensic analysis and law enforcement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verifying audio evidence </a:t>
            </a:r>
          </a:p>
        </p:txBody>
      </p:sp>
    </p:spTree>
    <p:extLst>
      <p:ext uri="{BB962C8B-B14F-4D97-AF65-F5344CB8AC3E}">
        <p14:creationId xmlns:p14="http://schemas.microsoft.com/office/powerpoint/2010/main" val="194656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9C32-CF31-4942-BE49-C0CC2DD48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Knowledge Gap</a:t>
            </a:r>
          </a:p>
        </p:txBody>
      </p:sp>
      <p:pic>
        <p:nvPicPr>
          <p:cNvPr id="4" name="Picture 2" descr="Registration - Best Private University in Telangana &amp; Andhra ...">
            <a:extLst>
              <a:ext uri="{FF2B5EF4-FFF2-40B4-BE49-F238E27FC236}">
                <a16:creationId xmlns:a16="http://schemas.microsoft.com/office/drawing/2014/main" id="{C3AEC87D-9931-D822-6DD0-C034496D7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51" y="0"/>
            <a:ext cx="1740738" cy="8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33D19F0-A75E-9176-9A5A-A6146B0FFE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9599" y="2023963"/>
            <a:ext cx="880497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methods (MFCC, LFCC, LFRCC) capture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speech characteristics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methods that combine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spectral and excitation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detecting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subtle artifacts in advanced deepfake audio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performance under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conditions (noise, channel variations)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residual-based features like LFRCC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369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35DCBA-CB5E-1A13-FCEA-D45A9BB4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pic>
        <p:nvPicPr>
          <p:cNvPr id="2" name="Picture 2" descr="Registration - Best Private University in Telangana &amp; Andhra ...">
            <a:extLst>
              <a:ext uri="{FF2B5EF4-FFF2-40B4-BE49-F238E27FC236}">
                <a16:creationId xmlns:a16="http://schemas.microsoft.com/office/drawing/2014/main" id="{443D8BD8-4D6D-E39E-C8D7-F746C14D3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40738" cy="8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19A2B985-2EC1-2460-2795-8FD734B95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052" y="1885464"/>
            <a:ext cx="1191208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Dataset</a:t>
            </a:r>
            <a:r>
              <a:rPr lang="en-IN" b="1" dirty="0"/>
              <a:t>: </a:t>
            </a:r>
            <a:r>
              <a:rPr lang="en-US" b="1" dirty="0">
                <a:solidFill>
                  <a:srgbClr val="FF0000"/>
                </a:solidFill>
              </a:rPr>
              <a:t>FOR-NORM (FAKE OR REAL NORMAL)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Subset: </a:t>
            </a:r>
            <a:r>
              <a:rPr lang="en-IN" b="1" dirty="0"/>
              <a:t>for-norm (normalized version)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Total utterances: </a:t>
            </a:r>
            <a:r>
              <a:rPr lang="en-IN" b="1" dirty="0"/>
              <a:t>195,000+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Synthetic (fake) utterances: </a:t>
            </a:r>
            <a:r>
              <a:rPr lang="en-IN" b="1" dirty="0"/>
              <a:t>87,000+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Real utterances: </a:t>
            </a:r>
            <a:r>
              <a:rPr lang="en-IN" b="1" dirty="0"/>
              <a:t>111,000+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Contains both </a:t>
            </a:r>
            <a:r>
              <a:rPr lang="en-US" b="1" dirty="0"/>
              <a:t>genuine and spoofed audio samples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Used for </a:t>
            </a:r>
            <a:r>
              <a:rPr lang="en-US" b="1" dirty="0"/>
              <a:t>training, validation, and testing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829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892F5-0994-BDBF-5C0E-2733A22D3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043" y="479467"/>
            <a:ext cx="7729728" cy="1188720"/>
          </a:xfrm>
        </p:spPr>
        <p:txBody>
          <a:bodyPr/>
          <a:lstStyle/>
          <a:p>
            <a:r>
              <a:rPr lang="en-US" dirty="0"/>
              <a:t>Methodology </a:t>
            </a:r>
            <a:endParaRPr lang="en-IN" dirty="0"/>
          </a:p>
        </p:txBody>
      </p:sp>
      <p:pic>
        <p:nvPicPr>
          <p:cNvPr id="4" name="Picture 2" descr="Registration - Best Private University in Telangana &amp; Andhra ...">
            <a:extLst>
              <a:ext uri="{FF2B5EF4-FFF2-40B4-BE49-F238E27FC236}">
                <a16:creationId xmlns:a16="http://schemas.microsoft.com/office/drawing/2014/main" id="{1CB860D9-9F83-3572-09B6-FE8520A1C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52"/>
            <a:ext cx="1740738" cy="8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86531A04-E935-9E58-232F-77A250016A0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546091" y="-683767"/>
            <a:ext cx="4607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34B5BFD-34D8-CA09-AA31-D9DD290EE6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8043" y="1986800"/>
            <a:ext cx="885482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1800" dirty="0"/>
              <a:t>Audio </a:t>
            </a:r>
            <a:r>
              <a:rPr lang="en-IN" sz="1800" b="1" dirty="0"/>
              <a:t>preprocessing</a:t>
            </a:r>
            <a:r>
              <a:rPr lang="en-IN" sz="1800" dirty="0"/>
              <a:t> (normalization + VAD + framing)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dirty="0"/>
              <a:t>Segmentation</a:t>
            </a:r>
            <a:r>
              <a:rPr lang="en-US" sz="1800" dirty="0"/>
              <a:t> into 25 </a:t>
            </a:r>
            <a:r>
              <a:rPr lang="en-US" sz="1800" dirty="0" err="1"/>
              <a:t>ms</a:t>
            </a:r>
            <a:r>
              <a:rPr lang="en-US" sz="1800" dirty="0"/>
              <a:t> frames with 10 </a:t>
            </a:r>
            <a:r>
              <a:rPr lang="en-US" sz="1800" dirty="0" err="1"/>
              <a:t>ms</a:t>
            </a:r>
            <a:r>
              <a:rPr lang="en-US" sz="1800" dirty="0"/>
              <a:t> overlap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Feature extraction using </a:t>
            </a:r>
            <a:r>
              <a:rPr lang="en-US" sz="1800" b="1" dirty="0"/>
              <a:t>LFRCC (residual + spectral features)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dirty="0"/>
              <a:t>LP order optimization</a:t>
            </a:r>
            <a:r>
              <a:rPr lang="en-US" sz="1800" dirty="0"/>
              <a:t> (optimal value = 8)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Feature enhancement using </a:t>
            </a:r>
            <a:r>
              <a:rPr lang="en-US" sz="1800" b="1" dirty="0"/>
              <a:t>static + delta + double-delta (39D)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Classification using </a:t>
            </a:r>
            <a:r>
              <a:rPr lang="en-US" sz="1800" b="1" dirty="0"/>
              <a:t>TDNN (temporal modeling)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dirty="0"/>
              <a:t>Evaluation</a:t>
            </a:r>
            <a:r>
              <a:rPr lang="en-US" sz="1800" dirty="0"/>
              <a:t> using Accuracy, F1-score, and EER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10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24DC3-73E3-5779-1D11-D05A6B4C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4B7A30-95BB-BE94-A5D6-4C816C462C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87262"/>
            <a:ext cx="6367210" cy="3426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The input signal is first resampled to 16 kHz then the signal is sampled with a window length of 30 seconds, and a hop length of 15 </a:t>
            </a:r>
            <a:r>
              <a:rPr lang="en-US" sz="1800" dirty="0" err="1"/>
              <a:t>ms</a:t>
            </a:r>
            <a:r>
              <a:rPr lang="en-US" sz="1800" dirty="0"/>
              <a:t> to obtain MFCC, LFCC, and LFRCC features.</a:t>
            </a:r>
          </a:p>
          <a:p>
            <a:r>
              <a:rPr lang="en-US" sz="1800" dirty="0"/>
              <a:t>• The LFRCC are obtained by processing the spectral envelope of an audio signal to remove pitch influence.</a:t>
            </a:r>
          </a:p>
          <a:p>
            <a:r>
              <a:rPr lang="en-US" sz="1800" dirty="0"/>
              <a:t>• LFRCC capture the essence of a sound’s spectral shape, minus the influence of pitch.</a:t>
            </a:r>
          </a:p>
          <a:p>
            <a:r>
              <a:rPr lang="en-US" sz="1800" dirty="0"/>
              <a:t>• This study employs a TDNN model with 5 convolutional layers, each with 40 sub band filters including max pooling, dropout, and batch normalization layer and latency period of 600 </a:t>
            </a:r>
            <a:r>
              <a:rPr lang="en-US" sz="1800" dirty="0" err="1"/>
              <a:t>ms.</a:t>
            </a: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685722-B7E0-F710-CACC-1F3BB79BF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490" y="2239346"/>
            <a:ext cx="4443062" cy="215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67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3B30-7304-DD77-97EF-211547C2B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 Residual And LFRCC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D8519-EACE-7612-DF82-E90404BDD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LP Residual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Isolates the difference between the actual speech and a predicted linear model: e(n) = x(n) − ˆx(n).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Captures information about the vocal tract and glottal source: e(n) emphasizes source characteristics not captured by the prediction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Linear frequency residual cepstral coefficient (LFRCC)</a:t>
            </a:r>
          </a:p>
          <a:p>
            <a:r>
              <a:rPr lang="en-US" dirty="0"/>
              <a:t> </a:t>
            </a:r>
            <a:r>
              <a:rPr lang="en-US" b="1" dirty="0"/>
              <a:t>LFRCCs are derived from the LP residual.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Capture information about the speech source after separating the spectral envelope and fine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Differentiate from MFCCs by focusing on the LP residual in the cepstral domain.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Captures pitch and formant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Extraction involves cepstral transformation.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26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F7A9B-C09D-997C-9BD4-A5EE65C0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r>
              <a:rPr lang="en-IN" b="1" dirty="0"/>
              <a:t>Model (TDNN)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C04E2-F50D-AEB0-288C-89A0E5A3C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TDNNs are neural networks that handle sequential data by using time-delay layers to capture temporal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Effective for tasks like speech recognition and audio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TDNNs leverage convolutional layers with shared weights across time to process sequential data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are capable of learning hierarchical representations of temporal patterns, enhancing their effectiveness in capturing nuanced features in speech and audio.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TDNNs use time-delay layers to capture temporal context efficiently in sequential data processing tasks.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434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3F4B-B1AA-3040-67AB-2BA02BEB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86937-4CA3-4371-23FF-27EEBA34B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133944" cy="4023360"/>
          </a:xfrm>
        </p:spPr>
        <p:txBody>
          <a:bodyPr/>
          <a:lstStyle/>
          <a:p>
            <a:pPr lvl="1"/>
            <a:r>
              <a:rPr lang="en-IN" dirty="0"/>
              <a:t>LFRCC achieves superior results (97.65% accuracy, 97.65% F1-score, 2.35% EER) compared to MFCC and LFCC using TDNN.</a:t>
            </a:r>
          </a:p>
          <a:p>
            <a:pPr lvl="1"/>
            <a:r>
              <a:rPr lang="en-IN" dirty="0"/>
              <a:t>TDNN achieves performance parity (97.65% accuracy, 97.65% F1-score, 2.35% EER) with FOR-Norm dataset.</a:t>
            </a:r>
          </a:p>
          <a:p>
            <a:pPr lvl="1"/>
            <a:r>
              <a:rPr lang="en-IN" dirty="0"/>
              <a:t>FOR-Norm dataset shows consistent performance (97.65% accuracy, 97.65% F1-score, 2.35% EER) across cross-dataset analysis.</a:t>
            </a:r>
          </a:p>
          <a:p>
            <a:pPr lvl="1"/>
            <a:r>
              <a:rPr lang="en-IN" dirty="0"/>
              <a:t>Latency analysis identifies 600ms as optimal, yielding 2.35% EER, superior to MFCC and LFCC.</a:t>
            </a:r>
          </a:p>
          <a:p>
            <a:pPr lvl="1"/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80F8C-CC9E-99AE-59F1-77A1A3631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113" y="2175224"/>
            <a:ext cx="3717567" cy="250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55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E6CC-1E28-FD60-851E-DAB8F784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F3391B-71B2-76DE-BC94-55F730E9F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6480" y="2085075"/>
            <a:ext cx="5763429" cy="3153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23F236-FC5D-02D2-40E2-5B6EC395FEE9}"/>
              </a:ext>
            </a:extLst>
          </p:cNvPr>
          <p:cNvSpPr txBox="1"/>
          <p:nvPr/>
        </p:nvSpPr>
        <p:spPr>
          <a:xfrm>
            <a:off x="706794" y="2634353"/>
            <a:ext cx="54887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Plots of framewise magnitude spectrum of LP residual, i.e., |R()| </a:t>
            </a:r>
            <a:r>
              <a:rPr lang="en-IN" dirty="0" err="1"/>
              <a:t>ofthe</a:t>
            </a:r>
            <a:r>
              <a:rPr lang="en-IN" dirty="0"/>
              <a:t> LP residual of real vs. fake speech, for different LP order 2 and 8, </a:t>
            </a:r>
            <a:r>
              <a:rPr lang="en-IN" dirty="0" err="1"/>
              <a:t>respec-tively</a:t>
            </a:r>
            <a:r>
              <a:rPr lang="en-IN" dirty="0"/>
              <a:t>, for Fake audio and real audio: Fig. (a), Fig. (b), Fig. (c), and Fig. (d) </a:t>
            </a:r>
            <a:r>
              <a:rPr lang="en-IN" dirty="0" err="1"/>
              <a:t>ofeach</a:t>
            </a:r>
            <a:r>
              <a:rPr lang="en-IN" dirty="0"/>
              <a:t> panel depicts the time-domain waveform, Mel Spectrogram, STFT spec-</a:t>
            </a:r>
            <a:r>
              <a:rPr lang="en-IN" dirty="0" err="1"/>
              <a:t>trogram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6994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FA918-1953-81A1-4E16-A5E370754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9" name="Picture 2" descr="Registration - Best Private University in Telangana &amp; Andhra ...">
            <a:extLst>
              <a:ext uri="{FF2B5EF4-FFF2-40B4-BE49-F238E27FC236}">
                <a16:creationId xmlns:a16="http://schemas.microsoft.com/office/drawing/2014/main" id="{3A65E7ED-A751-A5C0-BCC5-D7F694A0F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40738" cy="8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0B510B-2158-E543-FACA-D9BE1B5B175E}"/>
              </a:ext>
            </a:extLst>
          </p:cNvPr>
          <p:cNvSpPr txBox="1"/>
          <p:nvPr/>
        </p:nvSpPr>
        <p:spPr>
          <a:xfrm rot="10800000" flipV="1">
            <a:off x="2310260" y="5753094"/>
            <a:ext cx="7710818" cy="50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F13A162-18C6-6C19-9315-C1DDD9F1B5D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97280" y="2319563"/>
            <a:ext cx="934644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HDFS logs are transformed into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structured, block-level log sequences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sequence is assigned an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anomaly score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LSTM Autoencoder reconstruction 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Sequences exceeding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 threshold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identified as anomalous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Anomalies are visualized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 and graphs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interpretation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highlights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abnormal system behavior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assist cyber forensic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performance: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&gt;90% anomaly detection accuracy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false positive rate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043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DD7A-9101-D44C-8B37-1EEAE4980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BAC10-C34D-9DE9-39F8-6BF650A68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Introduced Order-Optimized LFRCC for deepfake detection.</a:t>
            </a:r>
          </a:p>
          <a:p>
            <a:r>
              <a:rPr lang="en-IN" dirty="0"/>
              <a:t>• LFRCC achieves superior performance with 2.36% EER using </a:t>
            </a:r>
            <a:r>
              <a:rPr lang="en-IN" dirty="0" err="1"/>
              <a:t>aTDNN</a:t>
            </a:r>
            <a:r>
              <a:rPr lang="en-IN" dirty="0"/>
              <a:t> classifier.</a:t>
            </a:r>
          </a:p>
          <a:p>
            <a:r>
              <a:rPr lang="en-IN" dirty="0"/>
              <a:t>• Outperformed MFCC (15.30% EER) and LFCC (7.62% EER) in de-</a:t>
            </a:r>
            <a:r>
              <a:rPr lang="en-IN" dirty="0" err="1"/>
              <a:t>tecting</a:t>
            </a:r>
            <a:r>
              <a:rPr lang="en-IN" dirty="0"/>
              <a:t> deepfake audio.</a:t>
            </a:r>
          </a:p>
          <a:p>
            <a:r>
              <a:rPr lang="en-IN" dirty="0"/>
              <a:t>• LFRCC demonstrates more effective noise robustness </a:t>
            </a:r>
            <a:r>
              <a:rPr lang="en-IN" dirty="0" err="1"/>
              <a:t>comparedto</a:t>
            </a:r>
            <a:r>
              <a:rPr lang="en-IN" dirty="0"/>
              <a:t> MFCC and LFCC across various SNR levels.</a:t>
            </a:r>
          </a:p>
          <a:p>
            <a:r>
              <a:rPr lang="en-IN" dirty="0"/>
              <a:t>• Demonstrates LFRCC’s capability to detect subtle </a:t>
            </a:r>
            <a:r>
              <a:rPr lang="en-IN" dirty="0" err="1"/>
              <a:t>distortionscharacteristic</a:t>
            </a:r>
            <a:r>
              <a:rPr lang="en-IN" dirty="0"/>
              <a:t> of deepfake audio effectively.</a:t>
            </a:r>
          </a:p>
        </p:txBody>
      </p:sp>
    </p:spTree>
    <p:extLst>
      <p:ext uri="{BB962C8B-B14F-4D97-AF65-F5344CB8AC3E}">
        <p14:creationId xmlns:p14="http://schemas.microsoft.com/office/powerpoint/2010/main" val="1724912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E2B6-0A2C-BB32-4D71-CD57C6D8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91B4CA2-C797-1FF5-5E67-F34E018A6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320" y="1720035"/>
            <a:ext cx="9959340" cy="514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[1] G. Fant, Speech Acoustics and Phonetics: Selected Writings, vol. 24, Springer, 2004.  </a:t>
            </a:r>
            <a:r>
              <a:rPr lang="en-IN" u="sng" dirty="0">
                <a:hlinkClick r:id="rId2"/>
              </a:rPr>
              <a:t>https://link.springer.com/book/10.1007/978-94-017-0357-1  </a:t>
            </a:r>
            <a:endParaRPr lang="en-IN" dirty="0"/>
          </a:p>
          <a:p>
            <a:r>
              <a:rPr lang="en-IN" dirty="0"/>
              <a:t>[2] J. Makhoul, ‘‘Linear prediction: A tutorial review,’’ Proc. IEEE, vol. 63, no. 4, pp. 561–580, 1975.  </a:t>
            </a:r>
            <a:r>
              <a:rPr lang="en-IN" u="sng" dirty="0">
                <a:hlinkClick r:id="rId3"/>
              </a:rPr>
              <a:t>https://doi.org/10.1109/PROC.1975.9792</a:t>
            </a:r>
            <a:r>
              <a:rPr lang="en-IN" dirty="0"/>
              <a:t>  </a:t>
            </a:r>
          </a:p>
          <a:p>
            <a:r>
              <a:rPr lang="en-IN" dirty="0"/>
              <a:t>[3] C. </a:t>
            </a:r>
            <a:r>
              <a:rPr lang="en-IN" dirty="0" err="1"/>
              <a:t>Hanilçi</a:t>
            </a:r>
            <a:r>
              <a:rPr lang="en-IN" dirty="0"/>
              <a:t>, ‘‘Speaker verification anti-spoofing using linear prediction residual phase features,’’ in Proc. EUSIPCO, 2017, pp. 96–100. </a:t>
            </a:r>
            <a:r>
              <a:rPr lang="en-IN" u="sng" dirty="0">
                <a:hlinkClick r:id="rId4"/>
              </a:rPr>
              <a:t> https://ieeexplore.ieee.org/document/8081370</a:t>
            </a:r>
            <a:r>
              <a:rPr lang="en-IN" dirty="0"/>
              <a:t>  </a:t>
            </a:r>
          </a:p>
          <a:p>
            <a:r>
              <a:rPr lang="en-IN" dirty="0"/>
              <a:t>[4] E. Jokinen, R. Saeidi, T. Kinnunen, and P. </a:t>
            </a:r>
            <a:r>
              <a:rPr lang="en-IN" dirty="0" err="1"/>
              <a:t>Alku</a:t>
            </a:r>
            <a:r>
              <a:rPr lang="en-IN" dirty="0"/>
              <a:t>, ‘‘Vocal effort compensation for MFCC feature extraction,’’ </a:t>
            </a:r>
            <a:r>
              <a:rPr lang="en-IN" dirty="0" err="1"/>
              <a:t>Comput</a:t>
            </a:r>
            <a:r>
              <a:rPr lang="en-IN" dirty="0"/>
              <a:t>. Speech Lang., vol. 53, pp. 1–11, 2019.  </a:t>
            </a:r>
            <a:r>
              <a:rPr lang="en-IN" u="sng" dirty="0">
                <a:hlinkClick r:id="rId5"/>
              </a:rPr>
              <a:t>https://doi.org/10.1016/j.csl.2018.08.004 </a:t>
            </a:r>
            <a:r>
              <a:rPr lang="en-IN" dirty="0"/>
              <a:t> </a:t>
            </a:r>
          </a:p>
          <a:p>
            <a:r>
              <a:rPr lang="en-IN" dirty="0"/>
              <a:t>[5] S. </a:t>
            </a:r>
            <a:r>
              <a:rPr lang="en-IN" dirty="0" err="1"/>
              <a:t>Cheedella</a:t>
            </a:r>
            <a:r>
              <a:rPr lang="en-IN" dirty="0"/>
              <a:t>, S. Gupta, and B. </a:t>
            </a:r>
            <a:r>
              <a:rPr lang="en-IN" dirty="0" err="1"/>
              <a:t>Yegnanarayana</a:t>
            </a:r>
            <a:r>
              <a:rPr lang="en-IN" dirty="0"/>
              <a:t>, ‘‘Extraction of speaker-specific excitation information,’’ Speech Commun., vol. 48, no. 10, pp. 1243–1261, 2006.  </a:t>
            </a:r>
            <a:r>
              <a:rPr lang="en-IN" u="sng" dirty="0">
                <a:hlinkClick r:id="rId6"/>
              </a:rPr>
              <a:t>https://doi.org/10.1016/j.specom.2006.03.004</a:t>
            </a:r>
            <a:r>
              <a:rPr lang="en-IN" dirty="0"/>
              <a:t>  </a:t>
            </a:r>
          </a:p>
          <a:p>
            <a:br>
              <a:rPr lang="en-IN" dirty="0"/>
            </a:br>
            <a:endParaRPr kumimoji="0" lang="en-US" altLang="en-US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2" descr="Registration - Best Private University in Telangana &amp; Andhra ...">
            <a:extLst>
              <a:ext uri="{FF2B5EF4-FFF2-40B4-BE49-F238E27FC236}">
                <a16:creationId xmlns:a16="http://schemas.microsoft.com/office/drawing/2014/main" id="{0D252815-9207-CB49-7A31-243247697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40738" cy="8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53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651F0-08D3-4C07-AF59-383E403643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3544" y="1901961"/>
            <a:ext cx="8718550" cy="1825625"/>
          </a:xfrm>
        </p:spPr>
        <p:txBody>
          <a:bodyPr>
            <a:normAutofit/>
          </a:bodyPr>
          <a:lstStyle/>
          <a:p>
            <a:pPr algn="ctr"/>
            <a:r>
              <a:rPr lang="en-IN" sz="9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Thank you</a:t>
            </a:r>
          </a:p>
        </p:txBody>
      </p:sp>
      <p:pic>
        <p:nvPicPr>
          <p:cNvPr id="3" name="Picture 2" descr="Registration - Best Private University in Telangana &amp; Andhra ...">
            <a:extLst>
              <a:ext uri="{FF2B5EF4-FFF2-40B4-BE49-F238E27FC236}">
                <a16:creationId xmlns:a16="http://schemas.microsoft.com/office/drawing/2014/main" id="{B85D55B3-BAFE-2B89-7503-0A0F8CF36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40738" cy="8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40679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954</TotalTime>
  <Words>1388</Words>
  <Application>Microsoft Office PowerPoint</Application>
  <PresentationFormat>Widescreen</PresentationFormat>
  <Paragraphs>137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Retrospect</vt:lpstr>
      <vt:lpstr>PowerPoint Presentation</vt:lpstr>
      <vt:lpstr>GROUP MEMBERS</vt:lpstr>
      <vt:lpstr>Problem Statement</vt:lpstr>
      <vt:lpstr>OBJECTIVE</vt:lpstr>
      <vt:lpstr>Impact On Society</vt:lpstr>
      <vt:lpstr>Knowledge Gap</vt:lpstr>
      <vt:lpstr>Dataset</vt:lpstr>
      <vt:lpstr>Methodology </vt:lpstr>
      <vt:lpstr>Proposed Architecture</vt:lpstr>
      <vt:lpstr>LP Residual And LFRCC</vt:lpstr>
      <vt:lpstr>  Model (TDNN)</vt:lpstr>
      <vt:lpstr>Results </vt:lpstr>
      <vt:lpstr>Statistical Analysis</vt:lpstr>
      <vt:lpstr>Results</vt:lpstr>
      <vt:lpstr>Conclusion</vt:lpstr>
      <vt:lpstr>References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Vulnerability Scanner</dc:title>
  <dc:creator>Nikhita Reddy Pingala</dc:creator>
  <cp:lastModifiedBy>Samyana reddy Chandupatla</cp:lastModifiedBy>
  <cp:revision>26</cp:revision>
  <dcterms:created xsi:type="dcterms:W3CDTF">2025-03-26T15:03:17Z</dcterms:created>
  <dcterms:modified xsi:type="dcterms:W3CDTF">2026-03-27T14:26:18Z</dcterms:modified>
</cp:coreProperties>
</file>